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Relationship Id="rId11" Type="http://schemas.openxmlformats.org/officeDocument/2006/relationships/image" Target="../media/image2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24.png"/><Relationship Id="rId5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Relationship Id="rId10" Type="http://schemas.openxmlformats.org/officeDocument/2006/relationships/image" Target="../media/image34.png"/><Relationship Id="rId11" Type="http://schemas.openxmlformats.org/officeDocument/2006/relationships/image" Target="../media/image3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45456" y="2413694"/>
            <a:ext cx="8701087" cy="1340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b="1" sz="4800" i="0" u="none">
                <a:solidFill>
                  <a:srgbClr val="0F172A"/>
                </a:solidFill>
                <a:latin typeface="Poppins"/>
              </a:rPr>
              <a:t>Secrets Management with </a:t>
            </a:r>
            <a:r>
              <a:t>
</a:t>
            </a:r>
            <a:r>
              <a:rPr b="1" sz="4800" i="0" u="none">
                <a:solidFill>
                  <a:srgbClr val="0078D4"/>
                </a:solidFill>
                <a:latin typeface="Poppins"/>
              </a:rPr>
              <a:t>Azure Key Vault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52625" y="3945135"/>
            <a:ext cx="8286750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475569"/>
                </a:solidFill>
                <a:latin typeface="Lato"/>
              </a:rPr>
              <a:t>Securing enterprise applications in the modern cloud landscape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24500" y="2819400"/>
            <a:ext cx="1143000" cy="5715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45593" y="3162300"/>
            <a:ext cx="6500812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5400" i="0" u="none">
                <a:solidFill>
                  <a:srgbClr val="0078D4"/>
                </a:solidFill>
                <a:latin typeface="Poppins"/>
              </a:rPr>
              <a:t>Session 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10097"/>
            <a:ext cx="2547937" cy="347602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5187" y="2210097"/>
            <a:ext cx="2547937" cy="347602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2210097"/>
            <a:ext cx="2547937" cy="347602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2562" y="2210097"/>
            <a:ext cx="2547937" cy="347602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775" y="2581572"/>
            <a:ext cx="609600" cy="609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6775" y="3429297"/>
            <a:ext cx="1770221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F172A"/>
                </a:solidFill>
                <a:latin typeface="Poppins SemiBold"/>
              </a:rPr>
              <a:t>The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75" y="3905547"/>
            <a:ext cx="1957387" cy="1294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334155"/>
                </a:solidFill>
                <a:latin typeface="Lato"/>
              </a:rPr>
              <a:t>Understanding the severe security risks of traditional secret management and why centralizing credentials is a critical requirement.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0462" y="2581572"/>
            <a:ext cx="609600" cy="609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700462" y="3429297"/>
            <a:ext cx="1930241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F172A"/>
                </a:solidFill>
                <a:latin typeface="Poppins SemiBold"/>
              </a:rPr>
              <a:t>Azure Key Vault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0462" y="3905547"/>
            <a:ext cx="1957387" cy="1294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334155"/>
                </a:solidFill>
                <a:latin typeface="Lato"/>
              </a:rPr>
              <a:t>Exploring the core capabilities of Key Vault as a digital safe for secrets, encryption keys, and SSL/TLS certificates.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4150" y="2581572"/>
            <a:ext cx="609600" cy="609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34150" y="3429297"/>
            <a:ext cx="1950243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F172A"/>
                </a:solidFill>
                <a:latin typeface="Poppins SemiBold"/>
              </a:rPr>
              <a:t>.NET 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4150" y="3905547"/>
            <a:ext cx="1957387" cy="1294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334155"/>
                </a:solidFill>
                <a:latin typeface="Lato"/>
              </a:rPr>
              <a:t>Deep dive into seamlessly authenticating and integrating Key Vault into modern ASP.NET Core applications.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7837" y="2581572"/>
            <a:ext cx="609600" cy="609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367837" y="3429297"/>
            <a:ext cx="1740217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F172A"/>
                </a:solidFill>
                <a:latin typeface="Poppins SemiBold"/>
              </a:rPr>
              <a:t>Best Practices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7837" y="3905547"/>
            <a:ext cx="1957387" cy="1294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334155"/>
                </a:solidFill>
                <a:latin typeface="Lato"/>
              </a:rPr>
              <a:t>Establishing security guardrails, implementing rotation policies, and enforcing the principle of least privilege.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9175" y="2733972"/>
            <a:ext cx="304800" cy="3048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33812" y="2733972"/>
            <a:ext cx="342900" cy="3048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05600" y="2733972"/>
            <a:ext cx="266700" cy="3048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20237" y="2733972"/>
            <a:ext cx="304800" cy="3048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71500" y="628650"/>
            <a:ext cx="116014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150" i="0" u="none">
                <a:solidFill>
                  <a:srgbClr val="0078D4"/>
                </a:solidFill>
                <a:latin typeface="Poppins SemiBold"/>
              </a:rPr>
              <a:t>Agenda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043112"/>
            <a:ext cx="5286375" cy="3810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7250" y="1833562"/>
            <a:ext cx="500062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334155"/>
                </a:solidFill>
                <a:latin typeface="Lato"/>
              </a:rPr>
              <a:t>Hardcoded Secrets:</a:t>
            </a:r>
            <a:r>
              <a:rPr b="0" sz="1500" i="0" u="none">
                <a:solidFill>
                  <a:srgbClr val="334155"/>
                </a:solidFill>
                <a:latin typeface="Lato"/>
              </a:rPr>
              <a:t> Embedding passwords directly in source code creates severe vulnerabilities and hinders dynamic, centralized credential updates.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2890837"/>
            <a:ext cx="500062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334155"/>
                </a:solidFill>
                <a:latin typeface="Lato"/>
              </a:rPr>
              <a:t>Git Exposure:</a:t>
            </a:r>
            <a:r>
              <a:rPr b="0" sz="1500" i="0" u="none">
                <a:solidFill>
                  <a:srgbClr val="334155"/>
                </a:solidFill>
                <a:latin typeface="Lato"/>
              </a:rPr>
              <a:t> Committing configuration files with plaintext secrets to repositories often leads to immediate, automated exploitation by malicious actors.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3948112"/>
            <a:ext cx="500062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334155"/>
                </a:solidFill>
                <a:latin typeface="Lato"/>
              </a:rPr>
              <a:t>Compliance Risks:</a:t>
            </a:r>
            <a:r>
              <a:rPr b="0" sz="1500" i="0" u="none">
                <a:solidFill>
                  <a:srgbClr val="334155"/>
                </a:solidFill>
                <a:latin typeface="Lato"/>
              </a:rPr>
              <a:t> Regulatory standards (GDPR, HIPAA, PCI-DSS) strictly mandate encrypted storage and tight access control for sensitive credentials.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5005387"/>
            <a:ext cx="500062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334155"/>
                </a:solidFill>
                <a:latin typeface="Lato"/>
              </a:rPr>
              <a:t>Rotation Challenges:</a:t>
            </a:r>
            <a:r>
              <a:rPr b="0" sz="1500" i="0" u="none">
                <a:solidFill>
                  <a:srgbClr val="334155"/>
                </a:solidFill>
                <a:latin typeface="Lato"/>
              </a:rPr>
              <a:t> Manual secret rotation requires application downtime and redeployment. A vault enables seamless, zero-downtime updates.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2043112"/>
            <a:ext cx="5286375" cy="381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628650"/>
            <a:ext cx="116014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150" i="0" u="none">
                <a:solidFill>
                  <a:srgbClr val="0078D4"/>
                </a:solidFill>
                <a:latin typeface="Poppins SemiBold"/>
              </a:rPr>
              <a:t>The Need for Secret Management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852612"/>
            <a:ext cx="1143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909887"/>
            <a:ext cx="11430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967162"/>
            <a:ext cx="114300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024437"/>
            <a:ext cx="1143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71675" y="1902321"/>
            <a:ext cx="8248650" cy="24532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b="0" sz="3450" i="0" u="none">
                <a:solidFill>
                  <a:srgbClr val="0F172A"/>
                </a:solidFill>
                <a:latin typeface="Poppins SemiBold"/>
              </a:rPr>
              <a:t>A secure cloud service to safeguard encryption keys and secrets. It acts as a digital safe for your most critical enterprise applications.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62525" y="4736603"/>
            <a:ext cx="22669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078D4"/>
                </a:solidFill>
                <a:latin typeface="Lato"/>
              </a:rPr>
              <a:t>MICROSOFT AZURE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9675" y="2283321"/>
            <a:ext cx="634603" cy="1314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0"/>
              </a:lnSpc>
            </a:pPr>
            <a:r>
              <a:rPr b="0" sz="9000" i="0" u="none">
                <a:solidFill>
                  <a:srgbClr val="DBEAFE"/>
                </a:solidFill>
                <a:latin typeface="Georgia SemiBold"/>
              </a:rPr>
              <a:t>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47721" y="4260349"/>
            <a:ext cx="634603" cy="1314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0"/>
              </a:lnSpc>
            </a:pPr>
            <a:r>
              <a:rPr b="0" sz="9000" i="0" u="none">
                <a:solidFill>
                  <a:srgbClr val="DBEAFE"/>
                </a:solidFill>
                <a:latin typeface="Georgia SemiBold"/>
              </a:rPr>
              <a:t>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10097"/>
            <a:ext cx="3492549" cy="347602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210097"/>
            <a:ext cx="3492549" cy="347602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210097"/>
            <a:ext cx="3492549" cy="347602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581572"/>
            <a:ext cx="609600" cy="609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6775" y="3429297"/>
            <a:ext cx="264033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F172A"/>
                </a:solidFill>
                <a:latin typeface="Poppins SemiBold"/>
              </a:rPr>
              <a:t>Secrets &amp; Credentials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3905547"/>
            <a:ext cx="2901999" cy="1294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334155"/>
                </a:solidFill>
                <a:latin typeface="Lato"/>
              </a:rPr>
              <a:t>Securely store database connection strings, API tokens, and passwords. Access is strictly controlled and audited via Entra ID (Active Directory) and RBAC.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074" y="2581572"/>
            <a:ext cx="609600" cy="609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45074" y="3429297"/>
            <a:ext cx="1970246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F172A"/>
                </a:solidFill>
                <a:latin typeface="Poppins SemiBold"/>
              </a:rPr>
              <a:t>Encryption Keys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074" y="3905547"/>
            <a:ext cx="2901999" cy="1035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334155"/>
                </a:solidFill>
                <a:latin typeface="Lato"/>
              </a:rPr>
              <a:t>Create and control cryptographic keys used to encrypt your data at rest. Supports FIPS 140-2 Level 2 and Level 3 Hardware Security Modules (HSMs).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3374" y="2581572"/>
            <a:ext cx="609600" cy="609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423374" y="3429297"/>
            <a:ext cx="1430178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F172A"/>
                </a:solidFill>
                <a:latin typeface="Poppins SemiBold"/>
              </a:rPr>
              <a:t>Certificates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23374" y="3905547"/>
            <a:ext cx="2901999" cy="1035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334155"/>
                </a:solidFill>
                <a:latin typeface="Lato"/>
              </a:rPr>
              <a:t>Provision, manage, and seamlessly deploy public and private SSL/TLS certificates for your Azure resources, handling automatic renewals.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9175" y="2733972"/>
            <a:ext cx="304800" cy="3048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16524" y="2733972"/>
            <a:ext cx="266700" cy="3048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75774" y="2733972"/>
            <a:ext cx="304800" cy="304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628650"/>
            <a:ext cx="116014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150" i="0" u="none">
                <a:solidFill>
                  <a:srgbClr val="0078D4"/>
                </a:solidFill>
                <a:latin typeface="Poppins SemiBold"/>
              </a:rPr>
              <a:t>What Can Azure Key Vault Store?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043112"/>
            <a:ext cx="5286375" cy="3810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7250" y="1762125"/>
            <a:ext cx="500062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Lato"/>
              </a:rPr>
              <a:t>The modern application runs on Azure (App Service, AKS, Container Apps) with an assigned </a:t>
            </a:r>
            <a:r>
              <a:rPr b="1" sz="1500" i="0" u="none">
                <a:solidFill>
                  <a:srgbClr val="334155"/>
                </a:solidFill>
                <a:latin typeface="Lato"/>
              </a:rPr>
              <a:t>System-assigned Managed Identity</a:t>
            </a:r>
            <a:r>
              <a:rPr b="0" sz="1500" i="0" u="none">
                <a:solidFill>
                  <a:srgbClr val="334155"/>
                </a:solidFill>
                <a:latin typeface="Lato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2819400"/>
            <a:ext cx="500062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Lato"/>
              </a:rPr>
              <a:t>The application seamlessly authenticates with Azure Entra ID to request an access token, requiring zero hardcoded client secrets.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3876675"/>
            <a:ext cx="50006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Lato"/>
              </a:rPr>
              <a:t>Entra ID validates the app's identity and issues a short-lived, secure access token.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4629150"/>
            <a:ext cx="50006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Lato"/>
              </a:rPr>
              <a:t>The application presents this token to </a:t>
            </a:r>
            <a:r>
              <a:rPr b="1" sz="1500" i="0" u="none">
                <a:solidFill>
                  <a:srgbClr val="334155"/>
                </a:solidFill>
                <a:latin typeface="Lato"/>
              </a:rPr>
              <a:t>Azure Key Vault</a:t>
            </a:r>
            <a:r>
              <a:rPr b="0" sz="1500" i="0" u="none">
                <a:solidFill>
                  <a:srgbClr val="334155"/>
                </a:solidFill>
                <a:latin typeface="Lato"/>
              </a:rPr>
              <a:t>, which validates RBAC permissions.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5381625"/>
            <a:ext cx="50006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Lato"/>
              </a:rPr>
              <a:t>Key Vault securely returns the connection string, enabling the app to connect to the backend Database or API.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2043112"/>
            <a:ext cx="5286375" cy="381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628650"/>
            <a:ext cx="116014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150" i="0" u="none">
                <a:solidFill>
                  <a:srgbClr val="0078D4"/>
                </a:solidFill>
                <a:latin typeface="Poppins SemiBold"/>
              </a:rPr>
              <a:t>Architecture &amp; Data Flow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781175"/>
            <a:ext cx="11430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838450"/>
            <a:ext cx="114300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95725"/>
            <a:ext cx="114300" cy="2000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648200"/>
            <a:ext cx="114300" cy="2000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400675"/>
            <a:ext cx="1143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085850"/>
            <a:ext cx="5581650" cy="5724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1085850"/>
            <a:ext cx="5982592" cy="57245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2025" y="1476375"/>
            <a:ext cx="504063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0078D4"/>
                </a:solidFill>
                <a:latin typeface="Poppins SemiBold"/>
              </a:rPr>
              <a:t>Required NuGet Packages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962025" y="2019300"/>
            <a:ext cx="48006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2025" y="2276475"/>
            <a:ext cx="4800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Lato"/>
              </a:rPr>
              <a:t>To integrate Key Vault seamlessly, two primary Microsoft packages are required to bridge authentication and configuration: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9925" y="1476375"/>
            <a:ext cx="5172075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0078D4"/>
                </a:solidFill>
                <a:latin typeface="Poppins SemiBold"/>
              </a:rPr>
              <a:t>Configuration Setup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19925" y="2019300"/>
            <a:ext cx="5201542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19925" y="2276475"/>
            <a:ext cx="5172075" cy="923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Lato"/>
              </a:rPr>
              <a:t>Integration is transparent. By chaining a single method in </a:t>
            </a:r>
            <a:r>
              <a:rPr b="0" sz="1500" i="0" u="none">
                <a:solidFill>
                  <a:srgbClr val="334155"/>
                </a:solidFill>
                <a:latin typeface="Lato"/>
              </a:rPr>
              <a:t>Program.cs</a:t>
            </a:r>
            <a:r>
              <a:rPr b="0" sz="1500" i="0" u="none">
                <a:solidFill>
                  <a:srgbClr val="334155"/>
                </a:solidFill>
                <a:latin typeface="Lato"/>
              </a:rPr>
              <a:t>, secrets are loaded into the standard configuration dictionary: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7775" y="3514725"/>
            <a:ext cx="4514850" cy="923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334155"/>
                </a:solidFill>
                <a:latin typeface="Lato"/>
              </a:rPr>
              <a:t>Azure.Identity:</a:t>
            </a:r>
            <a:r>
              <a:rPr b="0" sz="1500" i="0" u="none">
                <a:solidFill>
                  <a:srgbClr val="334155"/>
                </a:solidFill>
                <a:latin typeface="Lato"/>
              </a:rPr>
              <a:t> Provides robust token credential classes (like </a:t>
            </a:r>
            <a:r>
              <a:rPr b="0" sz="1500" i="0" u="none">
                <a:solidFill>
                  <a:srgbClr val="334155"/>
                </a:solidFill>
                <a:latin typeface="Lato"/>
              </a:rPr>
              <a:t>DefaultAzureCredential</a:t>
            </a:r>
            <a:r>
              <a:rPr b="0" sz="1500" i="0" u="none">
                <a:solidFill>
                  <a:srgbClr val="334155"/>
                </a:solidFill>
                <a:latin typeface="Lato"/>
              </a:rPr>
              <a:t>) for Azure SDK authentication workflows.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7775" y="4581525"/>
            <a:ext cx="451485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334155"/>
                </a:solidFill>
                <a:latin typeface="Lato"/>
              </a:rPr>
              <a:t>Azure.Extensions.AspNetCore.Configuration.Secrets:</a:t>
            </a:r>
            <a:r>
              <a:rPr b="0" sz="1500" i="0" u="none">
                <a:solidFill>
                  <a:srgbClr val="334155"/>
                </a:solidFill>
                <a:latin typeface="Lato"/>
              </a:rPr>
              <a:t> Enables Azure Key Vault to act as a native configuration provider within the standard ASP.NET Core dependency injection container.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05675" y="3524250"/>
            <a:ext cx="4886325" cy="923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Lato"/>
              </a:rPr>
              <a:t>Use </a:t>
            </a:r>
            <a:r>
              <a:rPr b="0" sz="1500" i="0" u="none">
                <a:solidFill>
                  <a:srgbClr val="334155"/>
                </a:solidFill>
                <a:latin typeface="Lato"/>
              </a:rPr>
              <a:t>builder.Configuration.AddAzureKeyVault(...)</a:t>
            </a:r>
            <a:r>
              <a:rPr b="0" sz="1500" i="0" u="none">
                <a:solidFill>
                  <a:srgbClr val="334155"/>
                </a:solidFill>
                <a:latin typeface="Lato"/>
              </a:rPr>
              <a:t> during application startup.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05675" y="4591050"/>
            <a:ext cx="4886325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Lato"/>
              </a:rPr>
              <a:t>It merges vault secrets with local </a:t>
            </a:r>
            <a:r>
              <a:rPr b="0" sz="1500" i="0" u="none">
                <a:solidFill>
                  <a:srgbClr val="334155"/>
                </a:solidFill>
                <a:latin typeface="Lato"/>
              </a:rPr>
              <a:t>appsettings.json</a:t>
            </a:r>
            <a:r>
              <a:rPr b="0" sz="1500" i="0" u="none">
                <a:solidFill>
                  <a:srgbClr val="334155"/>
                </a:solidFill>
                <a:latin typeface="Lato"/>
              </a:rPr>
              <a:t>, allowing secure overrides.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05675" y="5353050"/>
            <a:ext cx="4886325" cy="923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Lato"/>
              </a:rPr>
              <a:t>Eliminates the need to alter existing code; accessing </a:t>
            </a:r>
            <a:r>
              <a:rPr b="0" sz="1500" i="0" u="none">
                <a:solidFill>
                  <a:srgbClr val="334155"/>
                </a:solidFill>
                <a:latin typeface="Lato"/>
              </a:rPr>
              <a:t>Configuration["DbPassword"]</a:t>
            </a:r>
            <a:r>
              <a:rPr b="0" sz="1500" i="0" u="none">
                <a:solidFill>
                  <a:srgbClr val="334155"/>
                </a:solidFill>
                <a:latin typeface="Lato"/>
              </a:rPr>
              <a:t> fetches the value directly from the vault in production.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104775"/>
            <a:ext cx="116014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150" i="0" u="none">
                <a:solidFill>
                  <a:srgbClr val="0078D4"/>
                </a:solidFill>
                <a:latin typeface="Poppins SemiBold"/>
              </a:rPr>
              <a:t>Integration with ASP.NET Core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025" y="3533775"/>
            <a:ext cx="114300" cy="2000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025" y="4600575"/>
            <a:ext cx="114300" cy="2000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9925" y="3543300"/>
            <a:ext cx="114300" cy="2000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9925" y="4610100"/>
            <a:ext cx="114300" cy="2000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9925" y="5372100"/>
            <a:ext cx="1143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75854"/>
            <a:ext cx="3492549" cy="374451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075854"/>
            <a:ext cx="3492549" cy="374451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075854"/>
            <a:ext cx="3492549" cy="374451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447329"/>
            <a:ext cx="609600" cy="609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6775" y="3295054"/>
            <a:ext cx="2210276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F172A"/>
                </a:solidFill>
                <a:latin typeface="Poppins SemiBold"/>
              </a:rPr>
              <a:t>Managed 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3771304"/>
            <a:ext cx="2901999" cy="15537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334155"/>
                </a:solidFill>
                <a:latin typeface="Lato"/>
              </a:rPr>
              <a:t>The gold standard for Azure-hosted workloads. Eliminates credentials entirely. The Azure platform automatically manages the identity lifecycle, reducing operational overhead and attack vectors.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074" y="2447329"/>
            <a:ext cx="609600" cy="609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45074" y="3295054"/>
            <a:ext cx="2020252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F172A"/>
                </a:solidFill>
                <a:latin typeface="Poppins SemiBold"/>
              </a:rPr>
              <a:t>Service Principal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074" y="3771304"/>
            <a:ext cx="2901999" cy="15537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334155"/>
                </a:solidFill>
                <a:latin typeface="Lato"/>
              </a:rPr>
              <a:t>Ideal for CI/CD pipelines (GitHub Actions, Azure DevOps), automated scripts, or applications hosted outside of Azure (on-premises, AWS) that require programmatic access via Client ID and Secret.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3374" y="2447329"/>
            <a:ext cx="609600" cy="609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423374" y="3295054"/>
            <a:ext cx="2350293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F172A"/>
                </a:solidFill>
                <a:latin typeface="Poppins SemiBold"/>
              </a:rPr>
              <a:t>Local Development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23374" y="3771304"/>
            <a:ext cx="2901999" cy="1563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334155"/>
                </a:solidFill>
                <a:latin typeface="Lato"/>
              </a:rPr>
              <a:t>DefaultAzureCredential</a:t>
            </a:r>
            <a:r>
              <a:rPr b="0" sz="1275" i="0" u="none">
                <a:solidFill>
                  <a:srgbClr val="334155"/>
                </a:solidFill>
                <a:latin typeface="Lato"/>
              </a:rPr>
              <a:t> seamlessly authenticates using your local developer context. It dynamically checks Azure CLI, Visual Studio, or Azure PowerShell for an active, authorized login.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9175" y="2599729"/>
            <a:ext cx="304800" cy="3048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97474" y="2599729"/>
            <a:ext cx="304800" cy="3048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37674" y="2599729"/>
            <a:ext cx="381000" cy="304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628650"/>
            <a:ext cx="116014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150" i="0" u="none">
                <a:solidFill>
                  <a:srgbClr val="0078D4"/>
                </a:solidFill>
                <a:latin typeface="Poppins SemiBold"/>
              </a:rPr>
              <a:t>Authentication Methods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57250" y="820340"/>
            <a:ext cx="10477500" cy="1373385"/>
          </a:xfrm>
          <a:prstGeom prst="roundRect">
            <a:avLst>
              <a:gd name="adj" fmla="val 554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28750" y="1010840"/>
            <a:ext cx="9715500" cy="9923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0F172A"/>
                </a:solidFill>
                <a:latin typeface="Lato"/>
              </a:rPr>
              <a:t>Adopt the Principle of Least Privilege</a:t>
            </a:r>
            <a:r>
              <a:rPr b="0" sz="1500" i="0" u="none">
                <a:solidFill>
                  <a:srgbClr val="334155"/>
                </a:solidFill>
                <a:latin typeface="Lato"/>
              </a:rPr>
              <a:t> Grant applications only 'Get' and 'List' permissions via Azure Role-Based Access Control (RBAC). Never grant 'Set' or 'Delete' permissions to runtime application identities.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57250" y="820340"/>
            <a:ext cx="38100" cy="1373385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7250" y="2384226"/>
            <a:ext cx="10477500" cy="1373385"/>
          </a:xfrm>
          <a:prstGeom prst="roundRect">
            <a:avLst>
              <a:gd name="adj" fmla="val 554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28750" y="2574726"/>
            <a:ext cx="9715500" cy="9923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0F172A"/>
                </a:solidFill>
                <a:latin typeface="Lato"/>
              </a:rPr>
              <a:t>Implement Automated Rotation</a:t>
            </a:r>
            <a:r>
              <a:rPr b="0" sz="1500" i="0" u="none">
                <a:solidFill>
                  <a:srgbClr val="334155"/>
                </a:solidFill>
                <a:latin typeface="Lato"/>
              </a:rPr>
              <a:t> Configure Key Vault rotation policies to automatically generate new secrets or keys before they expire. This minimizes exposure windows and ensures continuous compliance.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57250" y="2384226"/>
            <a:ext cx="38100" cy="1373385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7250" y="3948112"/>
            <a:ext cx="10477500" cy="1373385"/>
          </a:xfrm>
          <a:prstGeom prst="roundRect">
            <a:avLst>
              <a:gd name="adj" fmla="val 554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38612"/>
            <a:ext cx="9715500" cy="9923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0F172A"/>
                </a:solidFill>
                <a:latin typeface="Lato"/>
              </a:rPr>
              <a:t>Isolate Environments</a:t>
            </a:r>
            <a:r>
              <a:rPr b="0" sz="1500" i="0" u="none">
                <a:solidFill>
                  <a:srgbClr val="334155"/>
                </a:solidFill>
                <a:latin typeface="Lato"/>
              </a:rPr>
              <a:t> Create entirely separate Key Vault instances for Development, Staging, and Production environments. Never share a single vault across boundaries to prevent cross-contamination.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7250" y="3948112"/>
            <a:ext cx="38100" cy="1373385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57250" y="5511998"/>
            <a:ext cx="10477500" cy="1373385"/>
          </a:xfrm>
          <a:prstGeom prst="roundRect">
            <a:avLst>
              <a:gd name="adj" fmla="val 554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5702498"/>
            <a:ext cx="9715500" cy="9923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0F172A"/>
                </a:solidFill>
                <a:latin typeface="Lato"/>
              </a:rPr>
              <a:t>Enable Soft Delete &amp; Purge Protection</a:t>
            </a:r>
            <a:r>
              <a:rPr b="0" sz="1500" i="0" u="none">
                <a:solidFill>
                  <a:srgbClr val="334155"/>
                </a:solidFill>
                <a:latin typeface="Lato"/>
              </a:rPr>
              <a:t> Safeguard against accidental or malicious deletion. Soft delete retains the vault data for a configured period (up to 90 days), allowing recovery without data loss.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7250" y="5511998"/>
            <a:ext cx="38100" cy="1373385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0" y="2584251"/>
            <a:ext cx="228600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850" y="4148137"/>
            <a:ext cx="257175" cy="2476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850" y="5712023"/>
            <a:ext cx="200025" cy="2476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-160734"/>
            <a:ext cx="116014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150" i="0" u="none">
                <a:solidFill>
                  <a:srgbClr val="0078D4"/>
                </a:solidFill>
                <a:latin typeface="Poppins SemiBold"/>
              </a:rPr>
              <a:t>Security Best Practices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471987"/>
            <a:ext cx="2430660" cy="178474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4180" y="1706165"/>
            <a:ext cx="2430660" cy="209907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6860" y="4471987"/>
            <a:ext cx="2430660" cy="210859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9541" y="2020490"/>
            <a:ext cx="2430660" cy="178474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71500" y="3919537"/>
            <a:ext cx="11049000" cy="5715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0759" y="4672012"/>
            <a:ext cx="2132141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0078D4"/>
                </a:solidFill>
                <a:latin typeface="Poppins SemiBold"/>
              </a:rPr>
              <a:t>1. Provision Vault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5081587"/>
            <a:ext cx="2030610" cy="9751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Create an Azure Key Vault resource via the Azure Portal and establish RBAC access policies.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440" y="1906190"/>
            <a:ext cx="2132141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0078D4"/>
                </a:solidFill>
                <a:latin typeface="Poppins SemiBold"/>
              </a:rPr>
              <a:t>2. Seed Configuration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44205" y="2630090"/>
            <a:ext cx="2030610" cy="9751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Add a sample database connection string and a third-party API key as stored secrets.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6120" y="4672012"/>
            <a:ext cx="2132141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0078D4"/>
                </a:solidFill>
                <a:latin typeface="Poppins SemiBold"/>
              </a:rPr>
              <a:t>3. Implement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6885" y="5395912"/>
            <a:ext cx="2030610" cy="98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Configure an ASP.NET Core Web API to load secrets dynamically using 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DefaultAzureCredential</a:t>
            </a:r>
            <a:r>
              <a:rPr b="0" sz="1200" i="0" u="none">
                <a:solidFill>
                  <a:srgbClr val="334155"/>
                </a:solidFill>
                <a:latin typeface="Lato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8801" y="2220515"/>
            <a:ext cx="2132141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0078D4"/>
                </a:solidFill>
                <a:latin typeface="Poppins SemiBold"/>
              </a:rPr>
              <a:t>4. Validate 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89566" y="2630090"/>
            <a:ext cx="2030610" cy="9751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Run the application locally and demonstrate successful retrieval of secrets via a secure endpoint.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53480" y="4005262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715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26160" y="4005262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715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98841" y="4005262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715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271521" y="4005262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715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500" y="628650"/>
            <a:ext cx="116014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150" i="0" u="none">
                <a:solidFill>
                  <a:srgbClr val="0078D4"/>
                </a:solidFill>
                <a:latin typeface="Poppins SemiBold"/>
              </a:rPr>
              <a:t>Demo Execution Plan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6237" y="4499520"/>
            <a:ext cx="3819525" cy="5334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5275" y="1882080"/>
            <a:ext cx="11601450" cy="1381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7200" i="0" u="none">
                <a:solidFill>
                  <a:srgbClr val="0078D4"/>
                </a:solidFill>
                <a:latin typeface="Poppins"/>
              </a:rP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453705"/>
            <a:ext cx="11049000" cy="426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b="0" sz="2100" i="0" u="none">
                <a:solidFill>
                  <a:srgbClr val="334155"/>
                </a:solidFill>
                <a:latin typeface="Lato"/>
              </a:rPr>
              <a:t>Thank you for your time and engagement.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3068984"/>
            <a:ext cx="1104900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404232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404232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317527"/>
            <a:ext cx="857250" cy="4762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66875" y="3211859"/>
            <a:ext cx="995362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34155"/>
                </a:solidFill>
                <a:latin typeface="Lato"/>
              </a:rPr>
              <a:t>https://static.vecteezy.com/system/resources/thumbnails/076/516/322/large/hooded-hacker-working-laptop-abstract-data-code-background-red-blue-light-cyber-security-digital-crime-network-threat-data-breach-concept-anonymity-dark-web-internet-technology-video.jpg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6875" y="3655665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www.vecteezy.com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201269"/>
            <a:ext cx="857250" cy="476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66875" y="4194720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334155"/>
                </a:solidFill>
                <a:latin typeface="Lato"/>
              </a:rPr>
              <a:t>https://static.vecteezy.com/system/resources/previews/067/822/143/non_2x/cloud-storage-continuous-line-drawing-modern-minimalist-outline-illustration-artwork-vector.jpg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6875" y="4440435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www.vecteezy.com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628650"/>
            <a:ext cx="116014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150" i="0" u="none">
                <a:solidFill>
                  <a:srgbClr val="0078D4"/>
                </a:solidFill>
                <a:latin typeface="Poppins SemiBold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